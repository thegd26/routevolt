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5984"/>
  </p:normalViewPr>
  <p:slideViewPr>
    <p:cSldViewPr snapToGrid="0" snapToObjects="1">
      <p:cViewPr>
        <p:scale>
          <a:sx n="91" d="100"/>
          <a:sy n="91" d="100"/>
        </p:scale>
        <p:origin x="19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9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"RouteVolt tells you exactly how much charge your EV trip will cost — before you commit to it — and plans the charging stops for you." Then name the team and college.</a:t>
            </a:r>
          </a:p>
          <a:p>
            <a:r>
              <a:rPr lang="en-US" dirty="0"/>
              <a:t>VISUAL: swap the placeholder for a real screenshot of RouteResults.jsx (Route A/B/C with predicted kWh + arrival battery) before presenting.</a:t>
            </a:r>
          </a:p>
          <a:p>
            <a:r>
              <a:rPr lang="en-US" dirty="0"/>
              <a:t>TECH DETAIL: prototype stage is TRL 4-5 — a working FastAPI + React app tested locally, not yet field-piloted.</a:t>
            </a:r>
          </a:p>
          <a:p>
            <a:r>
              <a:rPr lang="en-US" dirty="0"/>
              <a:t>LIKELY Q: "Is this live/deployed?" A: No — it's a working local prototype (FastAPI backend, React frontend, real routing/elevation/traffic APIs), not yet deployed for public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today's EV apps show you where chargers are, not what a specific trip will actually cost your specific vehicle. That gap is what RouteVolt closes.</a:t>
            </a:r>
          </a:p>
          <a:p>
            <a:r>
              <a:rPr lang="en-US" dirty="0"/>
              <a:t>VISUAL: the EVIDENCE card uses a real number from our own data work — 6 connector standards found hiding under 30+ raw naming variants across 449 stations we catalogued — as concrete proof the charging landscape is genuinely fragmented.</a:t>
            </a:r>
          </a:p>
          <a:p>
            <a:r>
              <a:rPr lang="en-US" dirty="0"/>
              <a:t>TECH DETAIL: connector_normalizer.py maps ~30 raw CSV strings into 6 canonical buckets (CCS2, AC_TYPE2, CHADEMO, BHARAT_DC, TYPE1_16A, UNKNOWN).</a:t>
            </a:r>
          </a:p>
          <a:p>
            <a:r>
              <a:rPr lang="en-US" dirty="0"/>
              <a:t>LIKELY Q: "Do you have a market-size number or survey data?" A: Not yet — we deliberately did not fabricate one. Our evidence is our own charging-station dataset, not a market-size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meet Arun — a representative persona, not an interviewed user — an intercity EV driver who has to guess a safety buffer today because no app tells him the real number.</a:t>
            </a:r>
          </a:p>
          <a:p>
            <a:r>
              <a:rPr lang="en-US" dirty="0"/>
              <a:t>VISUAL: SDG 11 (Sustainable Cities &amp; Communities) — reliable range planning is an adoption barrier for EVs on intercity corridors, which is core urban/regional transport infrastructure.</a:t>
            </a:r>
          </a:p>
          <a:p>
            <a:r>
              <a:rPr lang="en-US" dirty="0"/>
              <a:t>TECH DETAIL: none — this slide is about framing, not code.</a:t>
            </a:r>
          </a:p>
          <a:p>
            <a:r>
              <a:rPr lang="en-US" dirty="0"/>
              <a:t>LIKELY Q: "Why SDG 11 and not SDG 13 (climate)?" A: RouteVolt doesn't measure emissions or carbon savings directly; what it verifiably does is make EV trip planning viable, which is squarely a sustainable-transport-infrastructure outcome (SDG 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walk input -&gt; AI -&gt; experience -&gt; outcome. The one sentence to land: this is a trained energy-prediction model, not "AI finds the best route" — routing is still OSRM.</a:t>
            </a:r>
          </a:p>
          <a:p>
            <a:r>
              <a:rPr lang="en-US" dirty="0"/>
              <a:t>VISUAL: the WHY AI band has the one number that matters: R²=0.991 on 2,000 held-out test trips — verified by re-running the team's own training code live.</a:t>
            </a:r>
          </a:p>
          <a:p>
            <a:r>
              <a:rPr lang="en-US" dirty="0"/>
              <a:t>TECH DETAIL: HistGradientBoostingRegressor, 13 features (9 numeric incl. total_mass_kg, 4 categorical), tuned via RandomizedSearchCV, 5-fold CV. Trained on 10,000 physics-derived synthetic trips (not measured real-world telemetry).</a:t>
            </a:r>
          </a:p>
          <a:p>
            <a:r>
              <a:rPr lang="en-US" dirty="0"/>
              <a:t>LIKELY Q: "What exactly does the AI decide vs. plain code?" A: AI only predicts kWh-per-leg. Routing (OSRM), station scoring, and the multi-stop charging plan are conventional algorithms/heuristics, not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five stages, left to right — this is the real, current architecture, not a future roadmap.</a:t>
            </a:r>
          </a:p>
          <a:p>
            <a:r>
              <a:rPr lang="en-US" dirty="0"/>
              <a:t>VISUAL: AI CORE is highlighted because it's the one ML step; PREPARE, DECIDE and OUTPUT are conventional engineering.</a:t>
            </a:r>
          </a:p>
          <a:p>
            <a:r>
              <a:rPr lang="en-US" dirty="0"/>
              <a:t>TECH DETAIL: OSRM legs are deliberately re-chunked to 1-20km because raw OSRM steps under 1km made the model plateau at ~0.07kWh regardless of true distance — a real, documented fix. Safety margin is 12% on every reachability check; battery operating band is 20-80%.</a:t>
            </a:r>
          </a:p>
          <a:p>
            <a:r>
              <a:rPr lang="en-US" dirty="0"/>
              <a:t>LIKELY Q: "What's not real-time here?" A: Weather is a hardcoded stub (31°C, clear) — no live weather feed yet. Occupancy/wait-time are rule-based heuristics, not ML, by design (not enough session history to train on yet).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don't over-narrate this slide — let the screenshots (once inserted) do the work, then land the PROOF card.</a:t>
            </a:r>
          </a:p>
          <a:p>
            <a:r>
              <a:rPr lang="en-US" dirty="0"/>
              <a:t>VISUAL: insert real screenshots per the captions before presenting — RouteResults (Route A/B/C), StationCard, and a real API response. If time is short, screenshot the running app tonight.</a:t>
            </a:r>
          </a:p>
          <a:p>
            <a:r>
              <a:rPr lang="en-US" dirty="0"/>
              <a:t>TECH DETAIL: the R²=0.991 / MAE=0.99kWh number was produced by re-running train_model.py + the actual held-out trip_energy_test.csv (2,000 rows) live during deck preparation — it is not a number pulled from a comment or doc.</a:t>
            </a:r>
          </a:p>
          <a:p>
            <a:r>
              <a:rPr lang="en-US" dirty="0"/>
              <a:t>LIKELY Q: "Can you show it live?" A: Yes if the local server is running — POST /route/optimize with a real origin/destination returns the full charging_plan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be upfront that the 99.1% R² is measured on synthetic (physics-simulated) test data, not real-world driving — that's honest and it's the very next milestone.</a:t>
            </a:r>
          </a:p>
          <a:p>
            <a:r>
              <a:rPr lang="en-US" dirty="0"/>
              <a:t>VISUAL: the four stat cards are all real, sourced numbers — no invented percentages.</a:t>
            </a:r>
          </a:p>
          <a:p>
            <a:r>
              <a:rPr lang="en-US" dirty="0"/>
              <a:t>TECH DETAIL: scalability bottleneck is third-party traffic API rate limits (Ola/Google), not model inference, which is a fast pre-loaded pipeline. SQLite -&gt; Postgres is a one-line config change already anticipated in db.py.</a:t>
            </a:r>
          </a:p>
          <a:p>
            <a:r>
              <a:rPr lang="en-US" dirty="0"/>
              <a:t>LIKELY Q: "What's your model's real-world accuracy?" A: Unknown yet — it's only been validated on synthetic physics-based test data. That's explicitly flagged as the next milestone, not claimed as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land the one-sentence case, then the three 90-day milestones — all scoped to what's actually next given today's implementation, not generic promises.</a:t>
            </a:r>
          </a:p>
          <a:p>
            <a:r>
              <a:rPr lang="en-US" dirty="0"/>
              <a:t>VISUAL: swap the GitHub link for a QR code if presenting in person.</a:t>
            </a:r>
          </a:p>
          <a:p>
            <a:r>
              <a:rPr lang="en-US" dirty="0"/>
              <a:t>TECH DETAIL: none new — this slide is a synthesis of slides 4-7.</a:t>
            </a:r>
          </a:p>
          <a:p>
            <a:r>
              <a:rPr lang="en-US" dirty="0"/>
              <a:t>LIKELY Q: "Why should this win over other AI-for-mobility projects?" A: Most hackathon EV projects stop at charger-discovery UI; RouteVolt has a trained, tested prediction model wired into a real multi-stop simulator over a real 449-station dataset — verifiable end to end, not a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81812"/>
            <a:ext cx="11183112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pic>
        <p:nvPicPr>
          <p:cNvPr id="4" name="Image 0" descr="/mnt/data/foundry_pitch_template_work/assets/foundry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00584"/>
            <a:ext cx="36576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14630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StudAI Foundry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87552" y="393192"/>
            <a:ext cx="2176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5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 2  ·  CHENNAI EDITION</a:t>
            </a:r>
            <a:endParaRPr lang="en-US" sz="750" dirty="0"/>
          </a:p>
        </p:txBody>
      </p:sp>
      <p:pic>
        <p:nvPicPr>
          <p:cNvPr id="7" name="Image 1" descr="/mnt/data/foundry_pitch_template_work/assets/r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134" y="128016"/>
            <a:ext cx="1925515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02920" y="6441948"/>
            <a:ext cx="11183112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2" descr="/mnt/data/foundry_pitch_template_work/assets/studai_on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40" y="6501384"/>
            <a:ext cx="965241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84832" y="6528816"/>
            <a:ext cx="5715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75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SDG GOALS ATTAINMENT   |   DEFINE &gt; DESIGN &gt; PROVE</a:t>
            </a:r>
            <a:endParaRPr lang="en-US" sz="720" dirty="0"/>
          </a:p>
        </p:txBody>
      </p:sp>
      <p:sp>
        <p:nvSpPr>
          <p:cNvPr id="12" name="Text 7"/>
          <p:cNvSpPr/>
          <p:nvPr/>
        </p:nvSpPr>
        <p:spPr>
          <a:xfrm>
            <a:off x="9180576" y="6519672"/>
            <a:ext cx="1993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009A4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foundry.studai.one</a:t>
            </a:r>
            <a:endParaRPr lang="en-US" sz="84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A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81812"/>
            <a:ext cx="11183112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pic>
        <p:nvPicPr>
          <p:cNvPr id="4" name="Image 0" descr="/mnt/data/foundry_pitch_template_work/assets/foundry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00584"/>
            <a:ext cx="36576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14630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StudAI Foundry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87552" y="393192"/>
            <a:ext cx="2176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5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 2  ·  CHENNAI EDITION</a:t>
            </a:r>
            <a:endParaRPr lang="en-US" sz="750" dirty="0"/>
          </a:p>
        </p:txBody>
      </p:sp>
      <p:pic>
        <p:nvPicPr>
          <p:cNvPr id="7" name="Image 1" descr="/mnt/data/foundry_pitch_template_work/assets/r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134" y="128016"/>
            <a:ext cx="1925515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02920" y="6441948"/>
            <a:ext cx="11183112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2" descr="/mnt/data/foundry_pitch_template_work/assets/studai_on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40" y="6501384"/>
            <a:ext cx="965241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84832" y="6528816"/>
            <a:ext cx="5715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75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SDG GOALS ATTAINMENT   |   DEFINE &gt; DESIGN &gt; PROVE</a:t>
            </a:r>
            <a:endParaRPr lang="en-US" sz="720" dirty="0"/>
          </a:p>
        </p:txBody>
      </p:sp>
      <p:sp>
        <p:nvSpPr>
          <p:cNvPr id="12" name="Text 7"/>
          <p:cNvSpPr/>
          <p:nvPr/>
        </p:nvSpPr>
        <p:spPr>
          <a:xfrm>
            <a:off x="9180576" y="6519672"/>
            <a:ext cx="1993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009A4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foundry.studai.one</a:t>
            </a:r>
            <a:endParaRPr lang="en-US" sz="840" dirty="0"/>
          </a:p>
        </p:txBody>
      </p:sp>
      <p:sp>
        <p:nvSpPr>
          <p:cNvPr id="13" name="Shape 8"/>
          <p:cNvSpPr/>
          <p:nvPr/>
        </p:nvSpPr>
        <p:spPr>
          <a:xfrm>
            <a:off x="9235440" y="1188720"/>
            <a:ext cx="2286000" cy="0"/>
          </a:xfrm>
          <a:prstGeom prst="line">
            <a:avLst/>
          </a:prstGeom>
          <a:noFill/>
          <a:ln w="12700">
            <a:solidFill>
              <a:srgbClr val="009A4E">
                <a:alpha val="45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915400" y="1536192"/>
            <a:ext cx="2926080" cy="0"/>
          </a:xfrm>
          <a:prstGeom prst="line">
            <a:avLst/>
          </a:prstGeom>
          <a:noFill/>
          <a:ln w="12700">
            <a:solidFill>
              <a:srgbClr val="2B5484">
                <a:alpha val="45000"/>
              </a:srgbClr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C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004" y="1093726"/>
            <a:ext cx="2240280" cy="256032"/>
          </a:xfrm>
          <a:prstGeom prst="roundRect">
            <a:avLst>
              <a:gd name="adj" fmla="val 50000"/>
            </a:avLst>
          </a:prstGeom>
          <a:solidFill>
            <a:srgbClr val="143A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1626" y="1133511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PROJECT PITCH TEMPLATE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6470" y="1523666"/>
            <a:ext cx="6537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RouteVolt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06470" y="2238025"/>
            <a:ext cx="489204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9D9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Plans your EV's entire charging strategy — where to stop, how much to charge, and what to do if a charger lets you down.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3310128"/>
            <a:ext cx="4672584" cy="987552"/>
          </a:xfrm>
          <a:prstGeom prst="roundRect">
            <a:avLst>
              <a:gd name="adj" fmla="val 13889"/>
            </a:avLst>
          </a:prstGeom>
          <a:solidFill>
            <a:srgbClr val="113F77"/>
          </a:solidFill>
          <a:ln w="12700">
            <a:solidFill>
              <a:srgbClr val="315F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1626" y="3422518"/>
            <a:ext cx="5696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SNAPSHOT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21626" y="3811498"/>
            <a:ext cx="387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5E2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SDG 11 — Sustainable Cities   •   Intercity EV drivers in Tamil Nadu   •   Working prototype (TRL 4–5)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1626" y="45902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" y="489204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Souls  |  Rajalakshmi Institute of Technology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2628" y="53073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0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S. Giridharan (Lead)  •  Dinesh Azhagu Sankar P  •  S. Abinash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68696" y="1732788"/>
            <a:ext cx="5843016" cy="4009644"/>
          </a:xfrm>
          <a:prstGeom prst="roundRect">
            <a:avLst>
              <a:gd name="adj" fmla="val 4390"/>
            </a:avLst>
          </a:prstGeom>
          <a:solidFill>
            <a:srgbClr val="0E3569"/>
          </a:solidFill>
          <a:ln w="17780">
            <a:solidFill>
              <a:srgbClr val="4C6F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274320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A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A LIVE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93A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SCREENSHOT HERE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19872" y="363931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7392B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RouteResults.jsx: charging stops, charge-to-% targets, and ranked backup stations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8092440" y="4224528"/>
            <a:ext cx="2788920" cy="0"/>
          </a:xfrm>
          <a:prstGeom prst="line">
            <a:avLst/>
          </a:prstGeom>
          <a:noFill/>
          <a:ln w="25400">
            <a:solidFill>
              <a:srgbClr val="009A4E">
                <a:alpha val="80000"/>
              </a:srgbClr>
            </a:solidFill>
            <a:prstDash val="solid"/>
          </a:ln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FE1D1CE-B63E-592B-20BD-9EAF8AC2E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668" y="1682496"/>
            <a:ext cx="6067044" cy="41102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973" y="55778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83769" y="731520"/>
            <a:ext cx="475488" cy="0"/>
          </a:xfrm>
          <a:prstGeom prst="line">
            <a:avLst/>
          </a:prstGeom>
          <a:noFill/>
          <a:ln w="25400">
            <a:solidFill>
              <a:srgbClr val="009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50697" y="557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8686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worth solving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1892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1360170"/>
            <a:ext cx="521208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41248" y="1584090"/>
            <a:ext cx="329184" cy="32918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162523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280160" y="156580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IN ONE SENTENCE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2041290"/>
            <a:ext cx="48097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IN" sz="1050" dirty="0"/>
              <a:t>EV travel in </a:t>
            </a:r>
            <a:r>
              <a:rPr lang="en-IN" sz="1050" dirty="0" err="1"/>
              <a:t>india</a:t>
            </a:r>
            <a:r>
              <a:rPr lang="en-IN" sz="1050" dirty="0"/>
              <a:t> lacks an intelligent trip strategy that continuously decides the right stops, charge levels, and backups while accounting for charger availability and queues—making long-distance travel unnecessarily stressful and inefficient.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3203" y="2849584"/>
            <a:ext cx="2487168" cy="3139736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4371" y="3032464"/>
            <a:ext cx="329184" cy="329184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4371" y="307361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33283" y="301417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FEELS IT?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4371" y="3361648"/>
            <a:ext cx="2084832" cy="24201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 owners driving intercity routes (e.g. Chennai ↔ Trichy, Chennai ↔ Coimbatore)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Tamil Nadu highways and arterial roads, where elevation and traffic swing a lot leg to leg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charging stop — deciding where, how much, and what's next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28416" y="2810050"/>
            <a:ext cx="3236976" cy="3179270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638876" y="2901492"/>
            <a:ext cx="329184" cy="329184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8773" y="2938436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105220" y="2886687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16085" y="3219355"/>
            <a:ext cx="2450592" cy="1743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stop is a fresh set of decisions — and our own 449-station dataset shows 6 connector standards hiding under 30+ inconsistent names, making each one harder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Drivers default to worst-case over-charging — because no trustworthy predicted number exists today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PlugShare, Google Maps, Tata Power EZ Charge surface charger pins; none decide the stop sequence, charge target or backup plan for you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1310083"/>
            <a:ext cx="5321808" cy="2990088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0" y="1489818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1558603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675120" y="2001882"/>
            <a:ext cx="4133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connector standards, 30+ raw names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675120" y="2733402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 while building the station graph our planner runs Dijkstra over — proof that managing charging decisions here by hand is genuinely hard.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75120" y="3501498"/>
            <a:ext cx="4315968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370266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/ VALIDATION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174736" y="3675234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0B21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RouteVolt's own consolidated Tamil Nadu charging-station dataset (449 stations)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9875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4712" y="1152144"/>
            <a:ext cx="475488" cy="0"/>
          </a:xfrm>
          <a:prstGeom prst="line">
            <a:avLst/>
          </a:prstGeom>
          <a:noFill/>
          <a:ln w="25400">
            <a:solidFill>
              <a:srgbClr val="009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130759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insight + SDG alignment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1892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3794760" cy="367588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2706624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274777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USER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6112" y="3182112"/>
            <a:ext cx="713232" cy="713232"/>
          </a:xfrm>
          <a:prstGeom prst="ellipse">
            <a:avLst/>
          </a:prstGeom>
          <a:solidFill>
            <a:srgbClr val="EAF8F1"/>
          </a:solidFill>
          <a:ln w="12700">
            <a:solidFill>
              <a:srgbClr val="C9EB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447288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73936" y="31638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Arun, 34 — intercity EV driver (representative persona)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773936" y="352958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Owns a mid-range EV, drives Chennai to Madurai for work monthly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96112" y="42062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TO BE DONE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96112" y="450799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40" i="1" dirty="0">
                <a:solidFill>
                  <a:srgbClr val="0B21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“When I plan a long EV trip, I need something to plan my charging stops and decide how much to charge, so I don't have to make that call myself at every stop.”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896112" y="505663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WORKAROUND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31720" y="5020056"/>
            <a:ext cx="17099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Checks Google Maps + PlugShare separately, then manually decides where to stop and how much to charge — and hopes the charger is free on arrival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4709160" y="2468880"/>
            <a:ext cx="6812280" cy="303580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0" y="2706624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74777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ALIGNMENT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83480" y="32004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11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6656832" y="3236976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Sustainable Cities and Communities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46520" y="373075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Reliable range planning removes a real barrier to EV adoption on intercity corridors, supporting sustainable transport infrastructure across Tamil Nadu.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4983480" y="453542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OUTCOME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72784" y="44897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B21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Drivers stop making charging decisions manually — the trip already has a plan, with backups built in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4983480" y="497433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SIGNAL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72784" y="49286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B21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Charging stops resolved automatically, without manual re-planning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4983480" y="5294376"/>
            <a:ext cx="343814" cy="68580"/>
          </a:xfrm>
          <a:prstGeom prst="rect">
            <a:avLst/>
          </a:prstGeom>
          <a:solidFill>
            <a:srgbClr val="E52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43754" y="5294376"/>
            <a:ext cx="343814" cy="68580"/>
          </a:xfrm>
          <a:prstGeom prst="rect">
            <a:avLst/>
          </a:prstGeom>
          <a:solidFill>
            <a:srgbClr val="DD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04027" y="5294376"/>
            <a:ext cx="343814" cy="68580"/>
          </a:xfrm>
          <a:prstGeom prst="rect">
            <a:avLst/>
          </a:prstGeom>
          <a:solidFill>
            <a:srgbClr val="4C9F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64301" y="5294376"/>
            <a:ext cx="343814" cy="68580"/>
          </a:xfrm>
          <a:prstGeom prst="rect">
            <a:avLst/>
          </a:prstGeom>
          <a:solidFill>
            <a:srgbClr val="C519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24574" y="5294376"/>
            <a:ext cx="343814" cy="68580"/>
          </a:xfrm>
          <a:prstGeom prst="rect">
            <a:avLst/>
          </a:prstGeom>
          <a:solidFill>
            <a:srgbClr val="FF3A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84848" y="5294376"/>
            <a:ext cx="343814" cy="68580"/>
          </a:xfrm>
          <a:prstGeom prst="rect">
            <a:avLst/>
          </a:prstGeom>
          <a:solidFill>
            <a:srgbClr val="26BD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45122" y="5294376"/>
            <a:ext cx="343814" cy="68580"/>
          </a:xfrm>
          <a:prstGeom prst="rect">
            <a:avLst/>
          </a:prstGeom>
          <a:solidFill>
            <a:srgbClr val="FCC3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05395" y="5294376"/>
            <a:ext cx="343814" cy="68580"/>
          </a:xfrm>
          <a:prstGeom prst="rect">
            <a:avLst/>
          </a:prstGeom>
          <a:solidFill>
            <a:srgbClr val="A219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65669" y="5294376"/>
            <a:ext cx="343814" cy="68580"/>
          </a:xfrm>
          <a:prstGeom prst="rect">
            <a:avLst/>
          </a:prstGeom>
          <a:solidFill>
            <a:srgbClr val="FD69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5942" y="5294376"/>
            <a:ext cx="343814" cy="68580"/>
          </a:xfrm>
          <a:prstGeom prst="rect">
            <a:avLst/>
          </a:prstGeom>
          <a:solidFill>
            <a:srgbClr val="DD13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86216" y="5294376"/>
            <a:ext cx="343814" cy="68580"/>
          </a:xfrm>
          <a:prstGeom prst="rect">
            <a:avLst/>
          </a:prstGeom>
          <a:solidFill>
            <a:srgbClr val="FD9D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46490" y="5294376"/>
            <a:ext cx="343814" cy="68580"/>
          </a:xfrm>
          <a:prstGeom prst="rect">
            <a:avLst/>
          </a:prstGeom>
          <a:solidFill>
            <a:srgbClr val="BF8B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06763" y="5294376"/>
            <a:ext cx="343814" cy="68580"/>
          </a:xfrm>
          <a:prstGeom prst="rect">
            <a:avLst/>
          </a:prstGeom>
          <a:solidFill>
            <a:srgbClr val="3F7E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667037" y="5294376"/>
            <a:ext cx="343814" cy="68580"/>
          </a:xfrm>
          <a:prstGeom prst="rect">
            <a:avLst/>
          </a:prstGeom>
          <a:solidFill>
            <a:srgbClr val="0A97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027310" y="5294376"/>
            <a:ext cx="343814" cy="68580"/>
          </a:xfrm>
          <a:prstGeom prst="rect">
            <a:avLst/>
          </a:prstGeom>
          <a:solidFill>
            <a:srgbClr val="56C0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87584" y="5294376"/>
            <a:ext cx="343814" cy="68580"/>
          </a:xfrm>
          <a:prstGeom prst="rect">
            <a:avLst/>
          </a:prstGeom>
          <a:solidFill>
            <a:srgbClr val="00689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747858" y="5294376"/>
            <a:ext cx="343814" cy="68580"/>
          </a:xfrm>
          <a:prstGeom prst="rect">
            <a:avLst/>
          </a:prstGeom>
          <a:solidFill>
            <a:srgbClr val="1948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C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9875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4712" y="1152144"/>
            <a:ext cx="475488" cy="0"/>
          </a:xfrm>
          <a:prstGeom prst="line">
            <a:avLst/>
          </a:prstGeom>
          <a:noFill/>
          <a:ln w="25400">
            <a:solidFill>
              <a:srgbClr val="009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130759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solution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1892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2414016"/>
            <a:ext cx="1335024" cy="256032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45516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ONE-LINE SOLUTION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8368" y="2761488"/>
            <a:ext cx="10771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RouteVolt helps intercity EV drivers travel without making charging decisions themselves, by using AI-predicted energy to plan stops, charge targets and backups automatically.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58368" y="3703320"/>
            <a:ext cx="2359152" cy="1463040"/>
          </a:xfrm>
          <a:prstGeom prst="roundRect">
            <a:avLst>
              <a:gd name="adj" fmla="val 8750"/>
            </a:avLst>
          </a:prstGeom>
          <a:solidFill>
            <a:srgbClr val="0C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3886200"/>
            <a:ext cx="329184" cy="329184"/>
          </a:xfrm>
          <a:prstGeom prst="ellipse">
            <a:avLst/>
          </a:prstGeom>
          <a:solidFill>
            <a:srgbClr val="2D5E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92734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98448" y="3867912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" y="4343400"/>
            <a:ext cx="19568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Origin, destination, vehicle profile, load — plus live elevation, traffic and 449 real stations with connector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01568" y="3703320"/>
            <a:ext cx="2359152" cy="1463040"/>
          </a:xfrm>
          <a:prstGeom prst="roundRect">
            <a:avLst>
              <a:gd name="adj" fmla="val 8750"/>
            </a:avLst>
          </a:prstGeom>
          <a:solidFill>
            <a:srgbClr val="0C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02736" y="3886200"/>
            <a:ext cx="329184" cy="329184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02736" y="392734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041648" y="3867912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02736" y="4343400"/>
            <a:ext cx="19568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trained model predicts the kWh per leg — the one number every stop, charge target and backup decision below is built 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44768" y="3703320"/>
            <a:ext cx="2359152" cy="1463040"/>
          </a:xfrm>
          <a:prstGeom prst="roundRect">
            <a:avLst>
              <a:gd name="adj" fmla="val 8750"/>
            </a:avLst>
          </a:prstGeom>
          <a:solidFill>
            <a:srgbClr val="0C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5936" y="3886200"/>
            <a:ext cx="329184" cy="329184"/>
          </a:xfrm>
          <a:prstGeom prst="ellipse">
            <a:avLst/>
          </a:prstGeom>
          <a:solidFill>
            <a:srgbClr val="2D5E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392734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784848" y="3867912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45936" y="4343400"/>
            <a:ext cx="19568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full charging strategy: which stops, how much to charge at each, ranked backups, and live rerouting if one falls through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87968" y="3703320"/>
            <a:ext cx="2359152" cy="1463040"/>
          </a:xfrm>
          <a:prstGeom prst="roundRect">
            <a:avLst>
              <a:gd name="adj" fmla="val 8750"/>
            </a:avLst>
          </a:prstGeom>
          <a:solidFill>
            <a:srgbClr val="0C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89136" y="3886200"/>
            <a:ext cx="329184" cy="329184"/>
          </a:xfrm>
          <a:prstGeom prst="ellipse">
            <a:avLst/>
          </a:prstGeom>
          <a:solidFill>
            <a:srgbClr val="2FC4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89136" y="392734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528048" y="3867912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89136" y="4343400"/>
            <a:ext cx="19568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Drivers stop deciding where to stop, how much to charge, and what to do if a charger fails — RouteVolt already has an answer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8368" y="5404104"/>
            <a:ext cx="10588752" cy="667512"/>
          </a:xfrm>
          <a:prstGeom prst="roundRect">
            <a:avLst>
              <a:gd name="adj" fmla="val 20548"/>
            </a:avLst>
          </a:prstGeom>
          <a:solidFill>
            <a:srgbClr val="113F77"/>
          </a:solidFill>
          <a:ln w="12700">
            <a:solidFill>
              <a:srgbClr val="315F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" y="5439809"/>
            <a:ext cx="10113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AI?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 rot="10800000" flipV="1">
            <a:off x="896112" y="5660136"/>
            <a:ext cx="10113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5E2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prediction is the enabling layer, not the product — R²=0.991 on held-out trips. Stop planning, charge targets, backups and rerouting are conventional logic on top, not AI.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9875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4712" y="1152144"/>
            <a:ext cx="475488" cy="0"/>
          </a:xfrm>
          <a:prstGeom prst="line">
            <a:avLst/>
          </a:prstGeom>
          <a:noFill/>
          <a:ln w="25400">
            <a:solidFill>
              <a:srgbClr val="009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130759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1892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2953512"/>
            <a:ext cx="1572768" cy="1627632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2728" y="3099816"/>
            <a:ext cx="384048" cy="384048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1016" y="31912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" y="361188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13816" y="395935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Origin, destination, vehicle profile, battery %, load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286000" y="3648456"/>
            <a:ext cx="310896" cy="310896"/>
          </a:xfrm>
          <a:prstGeom prst="chevron">
            <a:avLst/>
          </a:prstGeom>
          <a:solidFill>
            <a:srgbClr val="A8B8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2953512"/>
            <a:ext cx="1572768" cy="1627632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3099816"/>
            <a:ext cx="384048" cy="384048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31912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53512" y="361188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2944368" y="395935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Candidate stations filtered, then a station graph is built and refined with real routes + traffic per edge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416552" y="3648456"/>
            <a:ext cx="310896" cy="310896"/>
          </a:xfrm>
          <a:prstGeom prst="chevron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19472" y="2953512"/>
            <a:ext cx="1572768" cy="1627632"/>
          </a:xfrm>
          <a:prstGeom prst="roundRect">
            <a:avLst>
              <a:gd name="adj" fmla="val 8140"/>
            </a:avLst>
          </a:prstGeom>
          <a:solidFill>
            <a:srgbClr val="EAF8F1"/>
          </a:solidFill>
          <a:ln w="12700">
            <a:solidFill>
              <a:srgbClr val="A9DE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13832" y="3099816"/>
            <a:ext cx="384048" cy="384048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31912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84064" y="361188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CORE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5074920" y="395935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HistGradientBoostingRegressor predicts kWh per edge — the real cost Dijkstra optimizes over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547104" y="3648456"/>
            <a:ext cx="310896" cy="310896"/>
          </a:xfrm>
          <a:prstGeom prst="chevron">
            <a:avLst/>
          </a:prstGeom>
          <a:solidFill>
            <a:srgbClr val="A8B8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50024" y="2953512"/>
            <a:ext cx="1572768" cy="1627632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44384" y="3099816"/>
            <a:ext cx="384048" cy="384048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31912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214616" y="361188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7205472" y="395935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Dijkstra finds the cheapest feasible stop sequence; each charge target also covers the worst of its top-3 ranked backups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677656" y="3648456"/>
            <a:ext cx="310896" cy="310896"/>
          </a:xfrm>
          <a:prstGeom prst="chevron">
            <a:avLst/>
          </a:prstGeom>
          <a:solidFill>
            <a:srgbClr val="A8B8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80576" y="2953512"/>
            <a:ext cx="1572768" cy="1627632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74936" y="3099816"/>
            <a:ext cx="384048" cy="384048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93224" y="31912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345168" y="361188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9336024" y="395935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charging strategy: stop sequence, charge-to-% per stop, ranked backups, wait-aware station picks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58368" y="4983480"/>
            <a:ext cx="5047488" cy="886968"/>
          </a:xfrm>
          <a:prstGeom prst="roundRect">
            <a:avLst>
              <a:gd name="adj" fmla="val 18293"/>
            </a:avLst>
          </a:prstGeom>
          <a:solidFill>
            <a:srgbClr val="EAF8F1"/>
          </a:solidFill>
          <a:ln w="12700">
            <a:solidFill>
              <a:srgbClr val="CBEC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5241" y="50383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96112" y="5495544"/>
            <a:ext cx="4572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21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scikit-learn (HistGBR)  •  Dijkstra station graph  •  FastAPI + React  •  OSRM / Open-Elevation / Ola Maps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907024" y="4983480"/>
            <a:ext cx="5340096" cy="886968"/>
          </a:xfrm>
          <a:prstGeom prst="roundRect">
            <a:avLst>
              <a:gd name="adj" fmla="val 18293"/>
            </a:avLst>
          </a:prstGeom>
          <a:solidFill>
            <a:srgbClr val="EAF8F1"/>
          </a:solidFill>
          <a:ln w="12700">
            <a:solidFill>
              <a:srgbClr val="CBEC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44768" y="5038344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/ RESPONSIBLE AI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144768" y="5495544"/>
            <a:ext cx="4864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21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12% safety margin on every reachability check; unreachable legs and failed reroutes are flagged, never hidden; unknown connectors marked UNKNOWN, never guessed compatible.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C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9875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4712" y="1152144"/>
            <a:ext cx="475488" cy="0"/>
          </a:xfrm>
          <a:prstGeom prst="line">
            <a:avLst/>
          </a:prstGeom>
          <a:noFill/>
          <a:ln w="25400">
            <a:solidFill>
              <a:srgbClr val="009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130759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+ proof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1892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2487168"/>
            <a:ext cx="6035040" cy="3017520"/>
          </a:xfrm>
          <a:prstGeom prst="roundRect">
            <a:avLst>
              <a:gd name="adj" fmla="val 3636"/>
            </a:avLst>
          </a:prstGeom>
          <a:solidFill>
            <a:srgbClr val="0A2F62"/>
          </a:solidFill>
          <a:ln w="19050">
            <a:solidFill>
              <a:srgbClr val="5F83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2670048"/>
            <a:ext cx="5669280" cy="201168"/>
          </a:xfrm>
          <a:prstGeom prst="rect">
            <a:avLst/>
          </a:prstGeom>
          <a:solidFill>
            <a:srgbClr val="103E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" y="2720340"/>
            <a:ext cx="64008" cy="64008"/>
          </a:xfrm>
          <a:prstGeom prst="ellipse">
            <a:avLst/>
          </a:prstGeom>
          <a:solidFill>
            <a:srgbClr val="ED6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4984" y="2720340"/>
            <a:ext cx="64008" cy="64008"/>
          </a:xfrm>
          <a:prstGeom prst="ellipse">
            <a:avLst/>
          </a:prstGeom>
          <a:solidFill>
            <a:srgbClr val="F4BF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4712" y="2720340"/>
            <a:ext cx="64008" cy="64008"/>
          </a:xfrm>
          <a:prstGeom prst="ellipse">
            <a:avLst/>
          </a:prstGeom>
          <a:solidFill>
            <a:srgbClr val="61C55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886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D0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SCREEN / WORKING PROTOTYPE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976" y="4142232"/>
            <a:ext cx="5449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8FAAC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INSERT: charging strategy view — stop sequence, charge-to-% targets, ranked backups per stop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931152" y="2487168"/>
            <a:ext cx="2103120" cy="1389888"/>
          </a:xfrm>
          <a:prstGeom prst="roundRect">
            <a:avLst>
              <a:gd name="adj" fmla="val 7895"/>
            </a:avLst>
          </a:prstGeom>
          <a:solidFill>
            <a:srgbClr val="0A2F62"/>
          </a:solidFill>
          <a:ln w="19050">
            <a:solidFill>
              <a:srgbClr val="5F83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14032" y="2670048"/>
            <a:ext cx="1737360" cy="201168"/>
          </a:xfrm>
          <a:prstGeom prst="rect">
            <a:avLst/>
          </a:prstGeom>
          <a:solidFill>
            <a:srgbClr val="103E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8040" y="2720340"/>
            <a:ext cx="64008" cy="64008"/>
          </a:xfrm>
          <a:prstGeom prst="ellipse">
            <a:avLst/>
          </a:prstGeom>
          <a:solidFill>
            <a:srgbClr val="ED6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87768" y="2720340"/>
            <a:ext cx="64008" cy="64008"/>
          </a:xfrm>
          <a:prstGeom prst="ellipse">
            <a:avLst/>
          </a:prstGeom>
          <a:solidFill>
            <a:srgbClr val="F4BF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97496" y="2720340"/>
            <a:ext cx="64008" cy="64008"/>
          </a:xfrm>
          <a:prstGeom prst="ellipse">
            <a:avLst/>
          </a:prstGeom>
          <a:solidFill>
            <a:srgbClr val="61C55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05472" y="307238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3760" y="3328416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9272016" y="2487168"/>
            <a:ext cx="1975104" cy="1389888"/>
          </a:xfrm>
          <a:prstGeom prst="roundRect">
            <a:avLst>
              <a:gd name="adj" fmla="val 7895"/>
            </a:avLst>
          </a:prstGeom>
          <a:solidFill>
            <a:srgbClr val="0A2F62"/>
          </a:solidFill>
          <a:ln w="19050">
            <a:solidFill>
              <a:srgbClr val="5F83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54896" y="2670048"/>
            <a:ext cx="1609344" cy="201168"/>
          </a:xfrm>
          <a:prstGeom prst="rect">
            <a:avLst/>
          </a:prstGeom>
          <a:solidFill>
            <a:srgbClr val="103E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18904" y="2720340"/>
            <a:ext cx="64008" cy="64008"/>
          </a:xfrm>
          <a:prstGeom prst="ellipse">
            <a:avLst/>
          </a:prstGeom>
          <a:solidFill>
            <a:srgbClr val="ED6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28632" y="2720340"/>
            <a:ext cx="64008" cy="64008"/>
          </a:xfrm>
          <a:prstGeom prst="ellipse">
            <a:avLst/>
          </a:prstGeom>
          <a:solidFill>
            <a:srgbClr val="F4BF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38360" y="2720340"/>
            <a:ext cx="64008" cy="64008"/>
          </a:xfrm>
          <a:prstGeom prst="ellipse">
            <a:avLst/>
          </a:prstGeom>
          <a:solidFill>
            <a:srgbClr val="61C55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46336" y="3072384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D0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564624" y="332841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8FAAC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INSERT: POST /route/reroute-stop response — a real reroute when a planned charger fails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6931152" y="4133088"/>
            <a:ext cx="4315968" cy="1371600"/>
          </a:xfrm>
          <a:prstGeom prst="roundRect">
            <a:avLst>
              <a:gd name="adj" fmla="val 9333"/>
            </a:avLst>
          </a:prstGeom>
          <a:solidFill>
            <a:srgbClr val="0D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68896" y="4361688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0336" y="440283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46720" y="43525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working charging-strategy engine, not just a router</a:t>
            </a:r>
            <a:endParaRPr lang="en-US" sz="1280" dirty="0"/>
          </a:p>
        </p:txBody>
      </p:sp>
      <p:sp>
        <p:nvSpPr>
          <p:cNvPr id="41" name="Text 39"/>
          <p:cNvSpPr/>
          <p:nvPr/>
        </p:nvSpPr>
        <p:spPr>
          <a:xfrm>
            <a:off x="7168896" y="4736592"/>
            <a:ext cx="36758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R² = 0.991, MAE = 0.99 kWh energy model (re-run and verified) underpins the whole plan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Dijkstra stop planning + top-3 ranked backups + live /route/reroute-stop, over 449 real stations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github.com/TheGD26/RouteVolt</a:t>
            </a:r>
            <a:endParaRPr lang="en-US" sz="98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565FCA3-23E4-B266-C6C6-34723AC93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02" y="2487168"/>
            <a:ext cx="6195822" cy="363016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354B26D-2575-E492-0DF8-80916B17E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2487168"/>
            <a:ext cx="2194560" cy="148899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1FB792C-3F84-16D9-FD89-A8B300CB6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0707" y="2487168"/>
            <a:ext cx="1977721" cy="14447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9875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4712" y="1152144"/>
            <a:ext cx="475488" cy="0"/>
          </a:xfrm>
          <a:prstGeom prst="line">
            <a:avLst/>
          </a:prstGeom>
          <a:noFill/>
          <a:ln w="25400">
            <a:solidFill>
              <a:srgbClr val="009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130759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+ feasibility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1892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2505456"/>
            <a:ext cx="248716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505456"/>
            <a:ext cx="54864" cy="1417320"/>
          </a:xfrm>
          <a:prstGeom prst="rect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67004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99.1%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59536" y="3163824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R² of the energy model on 2,000 unseen test trips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64992" y="2505456"/>
            <a:ext cx="248716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4992" y="2505456"/>
            <a:ext cx="54864" cy="1417320"/>
          </a:xfrm>
          <a:prstGeom prst="rect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67004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449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566160" y="3163824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Tamil Nadu charging stations catalogued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71616" y="2505456"/>
            <a:ext cx="248716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71616" y="2505456"/>
            <a:ext cx="54864" cy="1417320"/>
          </a:xfrm>
          <a:prstGeom prst="rect">
            <a:avLst/>
          </a:prstGeom>
          <a:solidFill>
            <a:srgbClr val="D8A1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267004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≤80%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272784" y="3163824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default ceiling — raised only when the leg ahead or a ranked backup genuinely needs more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778240" y="2505456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0" y="2505456"/>
            <a:ext cx="54864" cy="1417320"/>
          </a:xfrm>
          <a:prstGeom prst="rect">
            <a:avLst/>
          </a:prstGeom>
          <a:solidFill>
            <a:srgbClr val="2FC4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79408" y="267004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Real-trip validation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8979408" y="3163824"/>
            <a:ext cx="2148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the model against real driving data, not just synthetic test rows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8368" y="4187952"/>
            <a:ext cx="3401568" cy="1243584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9536" y="4259580"/>
            <a:ext cx="329184" cy="329184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" y="441198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298448" y="427939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9536" y="4660392"/>
            <a:ext cx="2999232" cy="60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today on free public APIs. Building one trip's full station graph (real routes + traffic per edge) takes ~250s — a real, measured cost, and the top target before live deployment.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61104" y="4187952"/>
            <a:ext cx="3401568" cy="1243584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43984" y="4206240"/>
            <a:ext cx="329184" cy="329184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443984" y="433626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01184" y="425958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462272" y="4608576"/>
            <a:ext cx="299923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ML model is fast and stateless. The real current bottleneck is the ~250s graph-build per trip — caching and self-hosted routing are the next steps before scaling past a handful of concurrent trips.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863840" y="4187952"/>
            <a:ext cx="3383280" cy="1243584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51100" y="4187952"/>
            <a:ext cx="329184" cy="32918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51100" y="43022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483092" y="41970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+ ETHICS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065008" y="4588764"/>
            <a:ext cx="2980944" cy="6781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trained on synthetic, not real, driving data  •  mis-routing to an incompatible/busy charger  •  12% safety margin + charge targets sized to reach ranked backups + live reroute-on-failure + UNKNOWN-connector fallback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58368" y="5669280"/>
            <a:ext cx="607377" cy="73152"/>
          </a:xfrm>
          <a:prstGeom prst="rect">
            <a:avLst/>
          </a:prstGeom>
          <a:solidFill>
            <a:srgbClr val="E52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82204" y="5669280"/>
            <a:ext cx="607377" cy="73152"/>
          </a:xfrm>
          <a:prstGeom prst="rect">
            <a:avLst/>
          </a:prstGeom>
          <a:solidFill>
            <a:srgbClr val="DD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06040" y="5669280"/>
            <a:ext cx="607377" cy="73152"/>
          </a:xfrm>
          <a:prstGeom prst="rect">
            <a:avLst/>
          </a:prstGeom>
          <a:solidFill>
            <a:srgbClr val="4C9F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29876" y="5669280"/>
            <a:ext cx="607377" cy="73152"/>
          </a:xfrm>
          <a:prstGeom prst="rect">
            <a:avLst/>
          </a:prstGeom>
          <a:solidFill>
            <a:srgbClr val="C519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53712" y="5669280"/>
            <a:ext cx="607377" cy="73152"/>
          </a:xfrm>
          <a:prstGeom prst="rect">
            <a:avLst/>
          </a:prstGeom>
          <a:solidFill>
            <a:srgbClr val="FF3A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77548" y="5669280"/>
            <a:ext cx="607377" cy="73152"/>
          </a:xfrm>
          <a:prstGeom prst="rect">
            <a:avLst/>
          </a:prstGeom>
          <a:solidFill>
            <a:srgbClr val="26BD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01384" y="5669280"/>
            <a:ext cx="607377" cy="73152"/>
          </a:xfrm>
          <a:prstGeom prst="rect">
            <a:avLst/>
          </a:prstGeom>
          <a:solidFill>
            <a:srgbClr val="FCC3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5220" y="5669280"/>
            <a:ext cx="607377" cy="73152"/>
          </a:xfrm>
          <a:prstGeom prst="rect">
            <a:avLst/>
          </a:prstGeom>
          <a:solidFill>
            <a:srgbClr val="A219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49056" y="5669280"/>
            <a:ext cx="607377" cy="73152"/>
          </a:xfrm>
          <a:prstGeom prst="rect">
            <a:avLst/>
          </a:prstGeom>
          <a:solidFill>
            <a:srgbClr val="FD69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72892" y="5669280"/>
            <a:ext cx="607377" cy="73152"/>
          </a:xfrm>
          <a:prstGeom prst="rect">
            <a:avLst/>
          </a:prstGeom>
          <a:solidFill>
            <a:srgbClr val="DD13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96728" y="5669280"/>
            <a:ext cx="607377" cy="73152"/>
          </a:xfrm>
          <a:prstGeom prst="rect">
            <a:avLst/>
          </a:prstGeom>
          <a:solidFill>
            <a:srgbClr val="FD9D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20563" y="5669280"/>
            <a:ext cx="607377" cy="73152"/>
          </a:xfrm>
          <a:prstGeom prst="rect">
            <a:avLst/>
          </a:prstGeom>
          <a:solidFill>
            <a:srgbClr val="BF8B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44399" y="5669280"/>
            <a:ext cx="607377" cy="73152"/>
          </a:xfrm>
          <a:prstGeom prst="rect">
            <a:avLst/>
          </a:prstGeom>
          <a:solidFill>
            <a:srgbClr val="3F7E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68235" y="5669280"/>
            <a:ext cx="607377" cy="73152"/>
          </a:xfrm>
          <a:prstGeom prst="rect">
            <a:avLst/>
          </a:prstGeom>
          <a:solidFill>
            <a:srgbClr val="0A97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92071" y="5669280"/>
            <a:ext cx="607377" cy="73152"/>
          </a:xfrm>
          <a:prstGeom prst="rect">
            <a:avLst/>
          </a:prstGeom>
          <a:solidFill>
            <a:srgbClr val="56C0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015907" y="5669280"/>
            <a:ext cx="607377" cy="73152"/>
          </a:xfrm>
          <a:prstGeom prst="rect">
            <a:avLst/>
          </a:prstGeom>
          <a:solidFill>
            <a:srgbClr val="00689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39743" y="5669280"/>
            <a:ext cx="607377" cy="73152"/>
          </a:xfrm>
          <a:prstGeom prst="rect">
            <a:avLst/>
          </a:prstGeom>
          <a:solidFill>
            <a:srgbClr val="1948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C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9875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4712" y="1152144"/>
            <a:ext cx="475488" cy="0"/>
          </a:xfrm>
          <a:prstGeom prst="line">
            <a:avLst/>
          </a:prstGeom>
          <a:noFill/>
          <a:ln w="25400">
            <a:solidFill>
              <a:srgbClr val="009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130759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project should win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1892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24688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STRONGEST CASE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2816352"/>
            <a:ext cx="6629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RouteVolt doesn't just route an EV to its destination — it plans the entire charging strategy: which stops, how much to charge, and what to do if one of them lets you down.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94944" y="3696462"/>
            <a:ext cx="2139696" cy="1531620"/>
          </a:xfrm>
          <a:prstGeom prst="roundRect">
            <a:avLst>
              <a:gd name="adj" fmla="val 9333"/>
            </a:avLst>
          </a:prstGeom>
          <a:solidFill>
            <a:srgbClr val="0C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" y="3747516"/>
            <a:ext cx="329184" cy="329184"/>
          </a:xfrm>
          <a:prstGeom prst="ellipse">
            <a:avLst/>
          </a:prstGeom>
          <a:solidFill>
            <a:srgbClr val="2D5E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3860759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80160" y="3739896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PROBLEM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" y="4127754"/>
            <a:ext cx="1737360" cy="9014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 drivers still make every charging decision themselves — where to stop, how much to charge, what to do if a station fails — apps only show pins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072384" y="3696462"/>
            <a:ext cx="2139696" cy="1497330"/>
          </a:xfrm>
          <a:prstGeom prst="roundRect">
            <a:avLst>
              <a:gd name="adj" fmla="val 9333"/>
            </a:avLst>
          </a:prstGeom>
          <a:solidFill>
            <a:srgbClr val="0C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50723" y="3771278"/>
            <a:ext cx="329184" cy="329184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8514" y="388620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98779" y="3789566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PROOF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48514" y="4117117"/>
            <a:ext cx="173736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Dijkstra-optimized stop sequence, charge targets sized against ranked backups, and a live reroute-on-failure endpoint — running on a model at R²=0.991 over 449 real stations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0" y="3680460"/>
            <a:ext cx="2139696" cy="1513332"/>
          </a:xfrm>
          <a:prstGeom prst="roundRect">
            <a:avLst>
              <a:gd name="adj" fmla="val 9333"/>
            </a:avLst>
          </a:prstGeom>
          <a:solidFill>
            <a:srgbClr val="0C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4739" y="3817620"/>
            <a:ext cx="329184" cy="329184"/>
          </a:xfrm>
          <a:prstGeom prst="ellipse">
            <a:avLst/>
          </a:prstGeom>
          <a:solidFill>
            <a:srgbClr val="2D5E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 rot="10800000" flipV="1">
            <a:off x="5687568" y="4000501"/>
            <a:ext cx="329184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108192" y="384505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IMPACT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87568" y="4462272"/>
            <a:ext cx="1737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Fewer decisions, less waiting, more confidence — across Tamil Nadu's EV corridors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1856" y="2487168"/>
            <a:ext cx="3255264" cy="2706624"/>
          </a:xfrm>
          <a:prstGeom prst="roundRect">
            <a:avLst>
              <a:gd name="adj" fmla="val 5405"/>
            </a:avLst>
          </a:prstGeom>
          <a:solidFill>
            <a:srgbClr val="0D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47888" y="2743200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9328" y="2784348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90 DAYS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47888" y="3255264"/>
            <a:ext cx="384048" cy="384048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66176" y="334670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759952" y="329184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the energy model against real, non-synthetic driving data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430768" y="3639312"/>
            <a:ext cx="0" cy="182880"/>
          </a:xfrm>
          <a:prstGeom prst="line">
            <a:avLst/>
          </a:prstGeom>
          <a:noFill/>
          <a:ln w="15240">
            <a:solidFill>
              <a:srgbClr val="54779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47888" y="3803904"/>
            <a:ext cx="384048" cy="384048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66176" y="389534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759952" y="384048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the ~250s station-graph build time — cache/self-host routing so the strategy resolves in real time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8430768" y="4187952"/>
            <a:ext cx="0" cy="182880"/>
          </a:xfrm>
          <a:prstGeom prst="line">
            <a:avLst/>
          </a:prstGeom>
          <a:noFill/>
          <a:ln w="15240">
            <a:solidFill>
              <a:srgbClr val="54779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47888" y="4352544"/>
            <a:ext cx="384048" cy="384048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66176" y="44439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759952" y="438912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Pilot the full plan → charge → backup → reroute loop with real EV drivers on a real Chennai corridor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8211312" y="4828032"/>
            <a:ext cx="2560320" cy="0"/>
          </a:xfrm>
          <a:prstGeom prst="line">
            <a:avLst/>
          </a:prstGeom>
          <a:noFill/>
          <a:ln w="19050">
            <a:solidFill>
              <a:srgbClr val="009A4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56692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2331720" y="56875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9BC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github.com/TheGD26/RouteVolt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2402</Words>
  <Application>Microsoft Macintosh PowerPoint</Application>
  <PresentationFormat>Widescreen</PresentationFormat>
  <Paragraphs>195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Inter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StudAI 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StudAI Foundry Season 2 - Official Project Pitch Template - Chennai Edition</dc:title>
  <dc:subject>StudAI Foundry Season 2 - Official Project Pitch Template</dc:subject>
  <dc:creator>StudAI One</dc:creator>
  <cp:lastModifiedBy>Giridharan S</cp:lastModifiedBy>
  <cp:revision>5</cp:revision>
  <dcterms:created xsi:type="dcterms:W3CDTF">2026-08-27T12:12:13Z</dcterms:created>
  <dcterms:modified xsi:type="dcterms:W3CDTF">2026-10-14T09:19:19Z</dcterms:modified>
</cp:coreProperties>
</file>